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大家平时线下玩桌游，总要牺牲一名玩家当主持人，负责发身份、念规则、控流程、组织投票。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真人 DM 成本高、水平参差不齐；让朋友当 DM，直接少了一个游戏参与者。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NOX 是一套实时驱动线下真人桌游的 AI 主持系统，不是普通聊天机器人。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我们的目标：不再牺牲任何人，在场所有人都可以当玩家。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NOX 完整体验的前三个环节：开局大厅、剧情开场、秘密身份。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扫码后座位逐个点亮，AI 主持唤醒；剧情用旁白、音乐和倒计时带入。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秘密身份环节，每个人只在自己手机看到专属身份卡，信息完全隔离，这是线下桌游最核心的非对称信息体验。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后三个环节：推理现场、终局揭晓、战后回顾。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线索以卡片展示，玩家提交证据、投票，AI 组织讨论并实时统计结果，这是最适合围观的界面。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结局统一揭晓、回放关键抉择，战后自动生成战报与可分享海报。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关键工程取舍：我们不把游戏判决交给大模型，否则会出现幻觉、泄露身份、破坏平衡。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回合流程、身份管理、投票结算、胜负判定全部由确定性状态机控制，这是系统的判决核心。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大模型只负责开场旁白、有限追问、线索总结和结局解读，不掌握判决权。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WebSocket 保证多手机实时同步，音效语音预合成，保证现场演示稳定可靠。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商业上优先 B 端落地，目标客户是桌游门店、清吧酒吧和线下活动组织者，玩家扫码全部免费。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收入来自门店月度授权、按活动场次收费，以及原创主题游戏包。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酒吧场景配套匿名聚合运营看板和卡座游戏积分兑酒，帮助商家拉长客人停留、带动酒水消费。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是否有人愿意付费，需要通过真实桌游局持续测试验证。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核心壁垒不是简单调用大模型，而是桌游专用状态机引擎，加上多人私密信息隔离系统。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前者解决规则可扩展与确定性判决，后者解决线下桌游非对称信息的安全分发，这是普通聊天 AI 做不到的。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未来我们会持续拓展更多派对、推理主题游戏包。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NOX，把空出来的主持席交给 AI，让每一个人都可以享受游戏。谢谢大家，欢迎提问。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8062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73" b="73"/>
          <a:stretch>
            <a:fillRect/>
          </a:stretch>
        </p:blipFill>
        <p:spPr>
          <a:xfrm>
            <a:off x="2472468" y="960677"/>
            <a:ext cx="9380663" cy="5262323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 txBox="1"/>
          <p:nvPr/>
        </p:nvSpPr>
        <p:spPr>
          <a:xfrm>
            <a:off x="812800" y="38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// AI GAME MASTER SYSTEM · NOX ONLINE</a:t>
            </a:r>
            <a:endParaRPr lang="en-US" sz="1100"/>
          </a:p>
        </p:txBody>
      </p:sp>
      <p:sp>
        <p:nvSpPr>
          <p:cNvPr id="4" name="AutoShape 4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HACKATHON 2026 · 3-MIN PITCH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14986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PROJECT NOX · THE EMPTY SEAT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711200" y="1905000"/>
            <a:ext cx="6350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83000"/>
              </a:lnSpc>
              <a:defRPr/>
            </a:pPr>
            <a:r>
              <a:rPr lang="en-US" sz="12800" b="1" i="0" u="none" strike="noStrike">
                <a:solidFill>
                  <a:srgbClr val="00F0FF"/>
                </a:solidFill>
                <a:latin typeface="Bebas Neue"/>
                <a:ea typeface="Bebas Neue"/>
                <a:cs typeface="Bebas Neue"/>
                <a:sym typeface="Bebas Neue"/>
              </a:rPr>
              <a:t>NOX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12800" y="3810000"/>
            <a:ext cx="609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桌游 MC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28647">
            <a:off x="812826" y="45148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2D95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 txBox="1"/>
          <p:nvPr/>
        </p:nvSpPr>
        <p:spPr>
          <a:xfrm>
            <a:off x="812800" y="46736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FF2D95"/>
                </a:solidFill>
                <a:latin typeface="Montserrat"/>
                <a:ea typeface="Montserrat"/>
                <a:cs typeface="Montserrat"/>
                <a:sym typeface="Montserrat"/>
              </a:rPr>
              <a:t>The Empty Seat — Give the host's seat to AI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12800" y="5130800"/>
            <a:ext cx="609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8E1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空出来的主持席，交给 AI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实时驱动线下桌游的 AI 主持系统 · 无需牺牲任何一名玩家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01 / 06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681897" y="6339258"/>
            <a:ext cx="1435100" cy="3175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0" tIns="0" rIns="0" bIns="0" rtlCol="0" anchor="t"/>
          <a:lstStyle/>
          <a:p>
            <a:pPr algn="l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A082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381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02 // PRODUCT EXPERIENCE · 把整场桌游变成互动大秀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DEMO《午夜列车》 · 4–6 人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16" b="316"/>
          <a:stretch>
            <a:fillRect/>
          </a:stretch>
        </p:blipFill>
        <p:spPr>
          <a:xfrm>
            <a:off x="914400" y="939800"/>
            <a:ext cx="1168400" cy="1549400"/>
          </a:xfrm>
          <a:prstGeom prst="roundRect">
            <a:avLst>
              <a:gd name="adj" fmla="val 108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2336800" y="914400"/>
            <a:ext cx="90424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Lobby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开局大厅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所有人扫码进入房间，头像逐个点亮；中间的 AI 主持角色从沉睡状态唤醒，展示玩家人数和开局倒计时。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微交互：玩家加入时座位亮起；全员准备后，房间灯光切换，自动进入剧情。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31">
            <a:off x="812804" y="2609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316" b="316"/>
          <a:stretch>
            <a:fillRect/>
          </a:stretch>
        </p:blipFill>
        <p:spPr>
          <a:xfrm>
            <a:off x="914400" y="2743200"/>
            <a:ext cx="1168400" cy="1549400"/>
          </a:xfrm>
          <a:prstGeom prst="roundRect">
            <a:avLst>
              <a:gd name="adj" fmla="val 108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2336800" y="2717800"/>
            <a:ext cx="90424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Awakening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剧情开场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不再只是说“现在请大家开始游戏”，而是用旁白、音乐、场景画面和倒计时宣布剧情开始。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微交互：字幕逐字出现、背景环境音渐入、剧情卡片翻转揭示第一条线索。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131">
            <a:off x="812804" y="4413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5203" b="5203"/>
          <a:stretch>
            <a:fillRect/>
          </a:stretch>
        </p:blipFill>
        <p:spPr>
          <a:xfrm>
            <a:off x="914400" y="4546600"/>
            <a:ext cx="1168400" cy="1397000"/>
          </a:xfrm>
          <a:prstGeom prst="roundRect">
            <a:avLst>
              <a:gd name="adj" fmla="val 108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 txBox="1"/>
          <p:nvPr/>
        </p:nvSpPr>
        <p:spPr>
          <a:xfrm>
            <a:off x="2336800" y="4521200"/>
            <a:ext cx="90424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Secret Identity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秘密身份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每位玩家在自己的手机上打开专属身份卡，获得不同的信息、目标或隐藏任务，其他玩家看不到。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微交互：卡牌 3D 翻转、保密遮罩、身份揭晓动画，让每个人真正进入游戏。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重点是沉浸式体验，而不是普通 SaaS 仪表盘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02 / 06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A0824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381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03 // PRODUCT EXPERIENCE · 从推理现场到战后回顾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DEMO《午夜列车》 · AI HOSTED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 t="316" b="316"/>
          <a:stretch>
            <a:fillRect/>
          </a:stretch>
        </p:blipFill>
        <p:spPr>
          <a:xfrm>
            <a:off x="914400" y="939800"/>
            <a:ext cx="1168400" cy="1549400"/>
          </a:xfrm>
          <a:prstGeom prst="roundRect">
            <a:avLst>
              <a:gd name="adj" fmla="val 108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/>
        </p:nvSpPr>
        <p:spPr>
          <a:xfrm>
            <a:off x="2336800" y="914400"/>
            <a:ext cx="90424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Investigation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推理现场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线索以卡片形式展示，玩家提交证据、质疑对象并进行投票；AI 根据游戏状态组织下一轮讨论、提供限定提示。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微交互：线索拖拽连线、关系图动态扩展、投票结果实时揭晓，这个界面最适合让评委围观。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4131">
            <a:off x="812804" y="2609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l="1189" r="1189"/>
          <a:stretch>
            <a:fillRect/>
          </a:stretch>
        </p:blipFill>
        <p:spPr>
          <a:xfrm>
            <a:off x="914400" y="2743200"/>
            <a:ext cx="1168400" cy="1549400"/>
          </a:xfrm>
          <a:prstGeom prst="roundRect">
            <a:avLst>
              <a:gd name="adj" fmla="val 1086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/>
        </p:nvSpPr>
        <p:spPr>
          <a:xfrm>
            <a:off x="2336800" y="2717800"/>
            <a:ext cx="9042400" cy="160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Reveal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终局揭晓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统一宣布结局，揭开秘密身份，展示关键证据和推理中的决定性时刻。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微交互：角色依次揭晓、胜负动画、关键选择回放，让结束也成为产品体验的一部分。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131">
            <a:off x="812804" y="4413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18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t="178" b="178"/>
          <a:stretch>
            <a:fillRect/>
          </a:stretch>
        </p:blipFill>
        <p:spPr>
          <a:xfrm>
            <a:off x="1028700" y="4470400"/>
            <a:ext cx="939800" cy="1549400"/>
          </a:xfrm>
          <a:prstGeom prst="roundRect">
            <a:avLst>
              <a:gd name="adj" fmla="val 1081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 txBox="1"/>
          <p:nvPr/>
        </p:nvSpPr>
        <p:spPr>
          <a:xfrm>
            <a:off x="2336800" y="4521200"/>
            <a:ext cx="9042400" cy="149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8000"/>
              </a:lnSpc>
              <a:defRPr/>
            </a:pPr>
            <a:r>
              <a:rPr lang="en-US" sz="16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/ </a:t>
            </a:r>
            <a:r>
              <a:rPr lang="en-US" sz="17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The Afterparty</a:t>
            </a:r>
            <a:r>
              <a:rPr lang="en-US" sz="13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 </a:t>
            </a: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战后回顾</a:t>
            </a:r>
            <a:endParaRPr lang="en-US" sz="1100"/>
          </a:p>
          <a:p>
            <a:pPr marL="0" indent="0" algn="l">
              <a:lnSpc>
                <a:spcPct val="118000"/>
              </a:lnSpc>
            </a:pPr>
            <a:r>
              <a:rPr lang="en-US" sz="1300" b="0" i="0" u="none" strike="noStrike">
                <a:solidFill>
                  <a:srgbClr val="CDDEE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自动生成本局战报、最佳推理、意外反转、玩家表现和可分享的战绩海报。</a:t>
            </a:r>
            <a:endParaRPr lang="en-US" sz="1300" b="0" i="0" u="none" strike="noStrike">
              <a:solidFill>
                <a:srgbClr val="CDDEE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8000"/>
              </a:lnSpc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微交互：生成专属称号、战绩卡片动画、下一局快速开房。</a:t>
            </a:r>
            <a:endParaRPr lang="en-US" sz="1100" b="0" i="0" u="none" strike="noStrike">
              <a:solidFill>
                <a:srgbClr val="8CA0BE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整场游戏无需任何人承担主持工作，全部交给 AI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03 / 06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80A22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38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03 // TECH ARCHITECTURE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NOX · AI GAME MASTER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12800" y="9906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状态机驱动，锁死大模型幻觉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12800" y="1524000"/>
            <a:ext cx="1056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确定性逻辑掌握判决权 · 大模型只负责氛围与表达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219200" y="1905000"/>
            <a:ext cx="9144000" cy="660400"/>
          </a:xfrm>
          <a:prstGeom prst="roundRect">
            <a:avLst>
              <a:gd name="adj" fmla="val 0"/>
            </a:avLst>
          </a:prstGeom>
          <a:solidFill>
            <a:srgbClr val="00F0FF">
              <a:alpha val="6000"/>
            </a:srgbClr>
          </a:solidFill>
          <a:ln w="12700" cap="flat" cmpd="sng">
            <a:solidFill>
              <a:srgbClr val="00F0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473200" y="1905000"/>
            <a:ext cx="2286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玩家 H5 端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3810000" y="1905000"/>
            <a:ext cx="6350000" cy="66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8E1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扫码即玩 · 每人独立私密视图 · 快捷按钮为主、语音为辅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154862">
            <a:off x="5702300" y="26989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11" name="AutoShape 11"/>
          <p:cNvSpPr/>
          <p:nvPr/>
        </p:nvSpPr>
        <p:spPr>
          <a:xfrm>
            <a:off x="1219200" y="2844800"/>
            <a:ext cx="9144000" cy="1346200"/>
          </a:xfrm>
          <a:prstGeom prst="roundRect">
            <a:avLst>
              <a:gd name="adj" fmla="val 0"/>
            </a:avLst>
          </a:prstGeom>
          <a:solidFill>
            <a:srgbClr val="00F0FF">
              <a:alpha val="1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</a:ln>
          <a:effectLst>
            <a:outerShdw blurRad="355600" algn="tl">
              <a:srgbClr val="00F0FF">
                <a:alpha val="4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1473200" y="2971800"/>
            <a:ext cx="863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确定性状态机 · 掌握全部判决权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422400" y="3403600"/>
            <a:ext cx="2032000" cy="584200"/>
          </a:xfrm>
          <a:prstGeom prst="roundRect">
            <a:avLst>
              <a:gd name="adj" fmla="val 0"/>
            </a:avLst>
          </a:prstGeom>
          <a:solidFill>
            <a:srgbClr val="060612">
              <a:alpha val="55000"/>
            </a:srgbClr>
          </a:solidFill>
          <a:ln w="12700" cap="flat" cmpd="sng">
            <a:solidFill>
              <a:srgbClr val="00F0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1422400" y="34036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F0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/ 顺序 / 计时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657600" y="3403600"/>
            <a:ext cx="2032000" cy="584200"/>
          </a:xfrm>
          <a:prstGeom prst="roundRect">
            <a:avLst>
              <a:gd name="adj" fmla="val 0"/>
            </a:avLst>
          </a:prstGeom>
          <a:solidFill>
            <a:srgbClr val="060612">
              <a:alpha val="55000"/>
            </a:srgbClr>
          </a:solidFill>
          <a:ln w="12700" cap="flat" cmpd="sng">
            <a:solidFill>
              <a:srgbClr val="00F0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3657600" y="34036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F0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身份与私密视图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892800" y="3403600"/>
            <a:ext cx="2032000" cy="584200"/>
          </a:xfrm>
          <a:prstGeom prst="roundRect">
            <a:avLst>
              <a:gd name="adj" fmla="val 0"/>
            </a:avLst>
          </a:prstGeom>
          <a:solidFill>
            <a:srgbClr val="060612">
              <a:alpha val="55000"/>
            </a:srgbClr>
          </a:solidFill>
          <a:ln w="12700" cap="flat" cmpd="sng">
            <a:solidFill>
              <a:srgbClr val="00F0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5892800" y="34036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F0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投票与动作校验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128000" y="3403600"/>
            <a:ext cx="2032000" cy="584200"/>
          </a:xfrm>
          <a:prstGeom prst="roundRect">
            <a:avLst>
              <a:gd name="adj" fmla="val 0"/>
            </a:avLst>
          </a:prstGeom>
          <a:solidFill>
            <a:srgbClr val="060612">
              <a:alpha val="55000"/>
            </a:srgbClr>
          </a:solidFill>
          <a:ln w="12700" cap="flat" cmpd="sng">
            <a:solidFill>
              <a:srgbClr val="00F0FF">
                <a:alpha val="5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8128000" y="3403600"/>
            <a:ext cx="2032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DCF0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胜负与结算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154862">
            <a:off x="5702300" y="4324576"/>
            <a:ext cx="17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2D95">
                <a:alpha val="8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sp>
        <p:nvSpPr>
          <p:cNvPr id="22" name="AutoShape 22"/>
          <p:cNvSpPr/>
          <p:nvPr/>
        </p:nvSpPr>
        <p:spPr>
          <a:xfrm>
            <a:off x="1219200" y="4470400"/>
            <a:ext cx="9144000" cy="711200"/>
          </a:xfrm>
          <a:prstGeom prst="roundRect">
            <a:avLst>
              <a:gd name="adj" fmla="val 0"/>
            </a:avLst>
          </a:prstGeom>
          <a:solidFill>
            <a:srgbClr val="FF2D95">
              <a:alpha val="7000"/>
            </a:srgbClr>
          </a:solidFill>
          <a:ln w="12700" cap="flat" cmpd="sng">
            <a:solidFill>
              <a:srgbClr val="FF2D95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 txBox="1"/>
          <p:nvPr/>
        </p:nvSpPr>
        <p:spPr>
          <a:xfrm>
            <a:off x="1473200" y="4470400"/>
            <a:ext cx="228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2D9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大模型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3810000" y="4470400"/>
            <a:ext cx="6350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E6CDD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开场旁白 · 有限范围追问 · 线索总结 · 结局解读（无判决权）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0617200" y="1905000"/>
            <a:ext cx="508000" cy="3276600"/>
          </a:xfrm>
          <a:prstGeom prst="roundRect">
            <a:avLst>
              <a:gd name="adj" fmla="val 0"/>
            </a:avLst>
          </a:prstGeom>
          <a:solidFill>
            <a:srgbClr val="B026FF">
              <a:alpha val="10000"/>
            </a:srgbClr>
          </a:solidFill>
          <a:ln w="12700" cap="flat" cmpd="sng">
            <a:solidFill>
              <a:srgbClr val="B026FF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10617200" y="2032000"/>
            <a:ext cx="508000" cy="3022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33000"/>
              </a:lnSpc>
              <a:defRPr/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</a:t>
            </a:r>
            <a:endParaRPr lang="en-US" sz="1100"/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ctr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</a:t>
            </a:r>
            <a:endParaRPr lang="en-US" sz="1100" b="0" i="0" u="none" strike="noStrike">
              <a:solidFill>
                <a:srgbClr val="CDAA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4131">
            <a:off x="812804" y="54546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2D95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 txBox="1"/>
          <p:nvPr/>
        </p:nvSpPr>
        <p:spPr>
          <a:xfrm>
            <a:off x="812800" y="5588000"/>
            <a:ext cx="105664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幻觉被锁死在输入解析层：不编造规则、不泄露身份、不破坏平衡，现场演示稳定可控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" name="AutoShape 30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React + Tailwind + Framer Motion · 预合成音效，不依赖实时语音识别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04 / 06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A0920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38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04 // BUSINESS MODEL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NOX · AI GAME MASTER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12800" y="9906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 端优先落地，C 端免费参与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12800" y="1524000"/>
            <a:ext cx="105664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先服务桌游店与线下活动组织者，用真实对局验证付费意愿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812800" y="19050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目标客户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2260600"/>
            <a:ext cx="1981200" cy="558800"/>
          </a:xfrm>
          <a:prstGeom prst="roundRect">
            <a:avLst>
              <a:gd name="adj" fmla="val 0"/>
            </a:avLst>
          </a:prstGeom>
          <a:solidFill>
            <a:srgbClr val="00F0FF">
              <a:alpha val="7000"/>
            </a:srgbClr>
          </a:solidFill>
          <a:ln w="12700" cap="flat" cmpd="sng">
            <a:solidFill>
              <a:srgbClr val="00F0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812800" y="2260600"/>
            <a:ext cx="198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1F2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桌游门店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46400" y="2260600"/>
            <a:ext cx="1981200" cy="558800"/>
          </a:xfrm>
          <a:prstGeom prst="roundRect">
            <a:avLst>
              <a:gd name="adj" fmla="val 0"/>
            </a:avLst>
          </a:prstGeom>
          <a:solidFill>
            <a:srgbClr val="00F0FF">
              <a:alpha val="7000"/>
            </a:srgbClr>
          </a:solidFill>
          <a:ln w="12700" cap="flat" cmpd="sng">
            <a:solidFill>
              <a:srgbClr val="00F0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2946400" y="2260600"/>
            <a:ext cx="198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1F2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清吧酒吧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080000" y="2260600"/>
            <a:ext cx="1981200" cy="558800"/>
          </a:xfrm>
          <a:prstGeom prst="roundRect">
            <a:avLst>
              <a:gd name="adj" fmla="val 0"/>
            </a:avLst>
          </a:prstGeom>
          <a:solidFill>
            <a:srgbClr val="00F0FF">
              <a:alpha val="7000"/>
            </a:srgbClr>
          </a:solidFill>
          <a:ln w="12700" cap="flat" cmpd="sng">
            <a:solidFill>
              <a:srgbClr val="00F0FF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5080000" y="2260600"/>
            <a:ext cx="1981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1F2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线下活动组织者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812800" y="30226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F0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收入来源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812800" y="3352800"/>
            <a:ext cx="635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3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门店月度授权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按月订阅，AI-DM 并发无上限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2800" y="3835400"/>
            <a:ext cx="635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3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按活动场次收费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低频客户轻量付费，开局即计费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12800" y="4318000"/>
            <a:ext cx="635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3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原创主题游戏包</a:t>
            </a:r>
            <a: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1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持续售卖推理与派对主题内容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" y="4902200"/>
            <a:ext cx="6248400" cy="914400"/>
          </a:xfrm>
          <a:prstGeom prst="roundRect">
            <a:avLst>
              <a:gd name="adj" fmla="val 0"/>
            </a:avLst>
          </a:prstGeom>
          <a:solidFill>
            <a:srgbClr val="B026FF">
              <a:alpha val="8000"/>
            </a:srgbClr>
          </a:solidFill>
          <a:ln w="12700" cap="flat" cmpd="sng">
            <a:solidFill>
              <a:srgbClr val="B026FF">
                <a:alpha val="7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 txBox="1"/>
          <p:nvPr/>
        </p:nvSpPr>
        <p:spPr>
          <a:xfrm>
            <a:off x="1066800" y="5029200"/>
            <a:ext cx="579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CDAA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酒吧场景增值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1066800" y="5359400"/>
            <a:ext cx="5791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DCCD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匿名卡座运营看板（时长 / 续局率 / 偏好）+ 游戏积分兑酒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71744">
            <a:off x="7518559" y="1898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3" name="Connector 23"/>
          <p:cNvCxnSpPr/>
          <p:nvPr/>
        </p:nvCxnSpPr>
        <p:spPr>
          <a:xfrm rot="5228255">
            <a:off x="7391400" y="2025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4" name="Connector 24"/>
          <p:cNvCxnSpPr/>
          <p:nvPr/>
        </p:nvCxnSpPr>
        <p:spPr>
          <a:xfrm rot="10628255">
            <a:off x="11125041" y="18986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5" name="Connector 25"/>
          <p:cNvCxnSpPr/>
          <p:nvPr/>
        </p:nvCxnSpPr>
        <p:spPr>
          <a:xfrm rot="5228255">
            <a:off x="11252200" y="2025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6" name="Connector 26"/>
          <p:cNvCxnSpPr/>
          <p:nvPr/>
        </p:nvCxnSpPr>
        <p:spPr>
          <a:xfrm rot="-171744">
            <a:off x="7518559" y="5810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7" name="Connector 27"/>
          <p:cNvCxnSpPr/>
          <p:nvPr/>
        </p:nvCxnSpPr>
        <p:spPr>
          <a:xfrm rot="-5571744">
            <a:off x="7391400" y="5683091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8" name="Connector 28"/>
          <p:cNvCxnSpPr/>
          <p:nvPr/>
        </p:nvCxnSpPr>
        <p:spPr>
          <a:xfrm rot="10628255">
            <a:off x="11125041" y="5810250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29" name="Connector 29"/>
          <p:cNvCxnSpPr/>
          <p:nvPr/>
        </p:nvCxnSpPr>
        <p:spPr>
          <a:xfrm rot="-5571744">
            <a:off x="11252200" y="5683091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30" name="AutoShape 30"/>
          <p:cNvSpPr txBox="1"/>
          <p:nvPr/>
        </p:nvSpPr>
        <p:spPr>
          <a:xfrm>
            <a:off x="7772400" y="3454400"/>
            <a:ext cx="3352800" cy="812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7000"/>
              </a:lnSpc>
              <a:defRPr/>
            </a:pPr>
            <a:r>
              <a:rPr lang="en-US" sz="1500" b="0" i="0" u="none" strike="noStrike">
                <a:solidFill>
                  <a:srgbClr val="CDAA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商业模式画布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1500" b="0" i="0" u="none" strike="noStrike">
                <a:solidFill>
                  <a:srgbClr val="CDAAFF">
                    <a:alpha val="94902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图片填充位</a:t>
            </a:r>
            <a:endParaRPr lang="en-US" sz="1500" b="0" i="0" u="none" strike="noStrike">
              <a:solidFill>
                <a:srgbClr val="CDAAFF">
                  <a:alpha val="94902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 txBox="1"/>
          <p:nvPr/>
        </p:nvSpPr>
        <p:spPr>
          <a:xfrm>
            <a:off x="7772400" y="4318000"/>
            <a:ext cx="33528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BUSINESS MODEL SLOT · 1:1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玩家扫码全程免费 · 游戏拉长停留，带动门店营收增长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05 / 06</a:t>
            </a:r>
            <a:endParaRPr lang="en-US" sz="1100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rcRect l="5882" t="1829" r="4228" b="1529"/>
          <a:stretch>
            <a:fillRect/>
          </a:stretch>
        </p:blipFill>
        <p:spPr>
          <a:xfrm>
            <a:off x="7874000" y="685800"/>
            <a:ext cx="3100705" cy="5932170"/>
          </a:xfrm>
          <a:prstGeom prst="round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60612">
                <a:alpha val="100000"/>
              </a:srgbClr>
            </a:gs>
            <a:gs pos="55000">
              <a:srgbClr val="100826">
                <a:alpha val="100000"/>
              </a:srgbClr>
            </a:gs>
            <a:gs pos="100000">
              <a:srgbClr val="1A0828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381000"/>
            <a:ext cx="533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05 // CLOSING &amp; Q&amp;A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128000" y="381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NOX · AI GAME MASTER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781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3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12800" y="1168400"/>
            <a:ext cx="10566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CORE MOAT · 核心壁垒 · 不是简单调用大模型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61804">
            <a:off x="647700" y="22923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F0FF">
                <a:alpha val="7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1473200" y="16764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0" i="0" u="none" strike="noStrike">
                <a:solidFill>
                  <a:srgbClr val="00F0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5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桌游状态机引擎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可扩展规则配置包，确定性判决，稳定驱动整场线下桌游，不依赖 AGI</a:t>
            </a:r>
            <a:endParaRPr lang="en-US" sz="1200" b="0" i="0" u="none" strike="noStrike">
              <a:solidFill>
                <a:srgbClr val="96AAC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5361804">
            <a:off x="5727700" y="2292385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FF2D95">
                <a:alpha val="7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9" name="AutoShape 9"/>
          <p:cNvSpPr txBox="1"/>
          <p:nvPr/>
        </p:nvSpPr>
        <p:spPr>
          <a:xfrm>
            <a:off x="6553200" y="1676400"/>
            <a:ext cx="43688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500" b="0" i="0" u="none" strike="noStrike">
                <a:solidFill>
                  <a:srgbClr val="FF2D95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r>
              <a:rPr lang="en-US" sz="15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</a:t>
            </a:r>
            <a:r>
              <a:rPr lang="en-US" sz="15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多人私密信息隔离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96AAC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公开状态与私有状态分级权限，身份、手牌等非对称信息安全分发</a:t>
            </a:r>
            <a:endParaRPr lang="en-US" sz="1200" b="0" i="0" u="none" strike="noStrike">
              <a:solidFill>
                <a:srgbClr val="96AAC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4131">
            <a:off x="812804" y="3194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 txBox="1"/>
          <p:nvPr/>
        </p:nvSpPr>
        <p:spPr>
          <a:xfrm>
            <a:off x="254000" y="3505200"/>
            <a:ext cx="1168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83000"/>
              </a:lnSpc>
              <a:defRPr/>
            </a:pPr>
            <a:r>
              <a:rPr lang="en-US" sz="7200" b="1" i="0" u="none" strike="noStrike">
                <a:solidFill>
                  <a:srgbClr val="00F0FF"/>
                </a:solidFill>
                <a:latin typeface="Bebas Neue"/>
                <a:ea typeface="Bebas Neue"/>
                <a:cs typeface="Bebas Neue"/>
                <a:sym typeface="Bebas Neue"/>
              </a:rPr>
              <a:t>NOX — THE EMPTY SEAT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016000" y="467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BF2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空出来的主持席，交给 AI —— 让每一个人都享受游戏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016000" y="5283200"/>
            <a:ext cx="10160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FF2D95"/>
                </a:solidFill>
                <a:latin typeface="Bebas Neue"/>
                <a:ea typeface="Bebas Neue"/>
                <a:cs typeface="Bebas Neue"/>
                <a:sym typeface="Bebas Neue"/>
              </a:rPr>
              <a:t>Q &amp; A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131">
            <a:off x="812804" y="60642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F0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 txBox="1"/>
          <p:nvPr/>
        </p:nvSpPr>
        <p:spPr>
          <a:xfrm>
            <a:off x="812800" y="6223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未来持续拓展派对、推理主题游戏包，谢谢大家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8128000" y="6223000"/>
            <a:ext cx="3251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CA0BE"/>
                </a:solidFill>
                <a:latin typeface="Roboto Mono"/>
                <a:ea typeface="Roboto Mono"/>
                <a:cs typeface="Roboto Mono"/>
                <a:sym typeface="Roboto Mono"/>
              </a:rPr>
              <a:t>06 / 06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1810</Words>
  <Application>WPS 演示</Application>
  <PresentationFormat/>
  <Paragraphs>164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Arial</vt:lpstr>
      <vt:lpstr>Roboto Mono</vt:lpstr>
      <vt:lpstr>FFont-Family</vt:lpstr>
      <vt:lpstr>Bebas Neue</vt:lpstr>
      <vt:lpstr>Noto Sans SC</vt:lpstr>
      <vt:lpstr>Montserrat</vt:lpstr>
      <vt:lpstr>微软雅黑</vt:lpstr>
      <vt:lpstr>Arial Unicode MS</vt:lpstr>
      <vt:lpstr>Bebas Neue</vt:lpstr>
      <vt:lpstr>Montserrat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张子仪(2024213985)</cp:lastModifiedBy>
  <cp:revision>1</cp:revision>
  <dcterms:created xsi:type="dcterms:W3CDTF">2026-10-11T10:40:21Z</dcterms:created>
  <dcterms:modified xsi:type="dcterms:W3CDTF">2026-10-11T10:40:21Z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{"Label":"1","ContentProducer":"001191110102MACQD9K64010000","ProduceID":"7695356069179509697","ReservedCode1":"","ContentPropagator":"","PropagateID":"","ReservedCode2":""}</vt:lpwstr>
  </property>
  <property fmtid="{D5CDD505-2E9C-101B-9397-08002B2CF9AE}" pid="3" name="KSOProductBuildVer">
    <vt:lpwstr>2052-12.1.0.28043</vt:lpwstr>
  </property>
  <property fmtid="{D5CDD505-2E9C-101B-9397-08002B2CF9AE}" pid="4" name="ICV">
    <vt:lpwstr>428D539030E4460C82F7F39C5234F991_12</vt:lpwstr>
  </property>
</Properties>
</file>
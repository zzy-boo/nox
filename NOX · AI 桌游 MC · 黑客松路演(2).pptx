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2" r:id="rId10"/>
    <p:sldId id="263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 NOX。这是 The Empty Seat——我们给清吧和小酒馆做了一个 AI 桌游主持人。一桌一个 AI，客人扫码就能开玩，不用人当 DM。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大家聚会玩桌游，最扫兴的从来不是冷场，而是总得有一个人主动跳出来当主持人。5 个人在玩，1 个人在服务——这 1 个 DM，从第一分钟起就再也不是玩家了。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我们的做法很简单：把主持席交给 AI。每个卡座配一个 AI-DM，客人扫码就能开桌，不用人带局。对酒吧来说，省下人力、拉长停留、带动酒水；对客人来说，手机就是身份卡和投票器，每个人都是玩家。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三个小时我们不做一个"什么桌游都能跑"的大而全平台，只做一个完整的演示包：《午夜列车》。4 到 6 个玩家，大约 10 分钟，AI 全程主持。一列午夜列车，每人手里一块别人不知道的线索——交换、质疑、投票，在终点站之前找出真相。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局游戏我们设计了六个瞬间：扫码入座头像点亮、旁白字幕逐字出现、翻开私人身份卡、交换线索互相质疑、投票揭晓真相、战报海报分享。每个瞬间都让评委记住——这不是一个问答框，这是一场有仪式感的游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这是我们最想让酒吧老板看到的一页：游戏不只是留客，游戏本身就是点单按钮。回合输家被起哄去吧台请全桌喝一杯，局间弹窗提示加一轮，战报海报自带酒吧 logo——客人多待一小时，酒水就多卖一轮。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商业模式很清楚：B 端是清吧和小酒馆，按月订阅，按卡座席位解锁，再叠加按场次和原创主题游戏包。酒吧得到的不只是工具——它省下真人 DM 的人力，游戏本身拉长客人在卡座的停留，输家请客和局间点单把停留直接串成酒水营收，后台再给它一份匿名聚合的运营报表。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最后，我们不打算证明 AI 能回答多少问题。我们押注的是那一个瞬间——当所有人的手机亮起，身份卡翻开，AI 用旁白宣布游戏开始。那时候评委会意识到：这不是一个聊天机器人，这是一桌真的能开起来的桌游。NOX，The Empty Seat。欢迎现在扫码开桌。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5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2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8890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HACKATHON · 3 MIN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68745">
            <a:off x="889063" y="1263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8C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889000" y="1905000"/>
            <a:ext cx="609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4E8D0"/>
                </a:solidFill>
                <a:latin typeface="Noto Serif SC"/>
                <a:ea typeface="Noto Serif SC"/>
                <a:cs typeface="Noto Serif SC"/>
                <a:sym typeface="Noto Serif SC"/>
              </a:rPr>
              <a:t>NOX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889000" y="3556000"/>
            <a:ext cx="609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1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The Empty Seat.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89000" y="4191000"/>
            <a:ext cx="609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4E8D0"/>
                </a:solidFill>
                <a:latin typeface="Noto Sans SC"/>
                <a:ea typeface="Noto Sans SC"/>
                <a:cs typeface="Noto Sans SC"/>
                <a:sym typeface="Noto Sans SC"/>
              </a:rPr>
              <a:t>空出来的主持席，交给 AI。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7314">
            <a:off x="889007" y="5073650"/>
            <a:ext cx="596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4E8D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5270500"/>
            <a:ext cx="609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面向清吧 / 小酒馆的 AI 桌游 MC。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一桌一个 AI 主持人，客人扫码免费开玩。</a:t>
            </a:r>
            <a:endParaRPr lang="en-US" sz="1400" b="0" i="0" u="none" strike="noStrike">
              <a:solidFill>
                <a:srgbClr val="A8A09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 l="29161" r="29161"/>
          <a:stretch>
            <a:fillRect/>
          </a:stretch>
        </p:blipFill>
        <p:spPr>
          <a:xfrm>
            <a:off x="7112000" y="0"/>
            <a:ext cx="5080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2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889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01 · THE PROBLEM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68745">
            <a:off x="889063" y="1263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8C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889000" y="19050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800" b="1" i="0" u="none" strike="noStrike">
                <a:solidFill>
                  <a:srgbClr val="F4E8D0"/>
                </a:solidFill>
                <a:latin typeface="Noto Serif SC"/>
                <a:ea typeface="Noto Serif SC"/>
                <a:cs typeface="Noto Serif SC"/>
                <a:sym typeface="Noto Serif SC"/>
              </a:rPr>
              <a:t>玩桌游最扫兴的，不是没话题。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889000" y="27940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800" b="1" i="0" u="none" strike="noStrike">
                <a:solidFill>
                  <a:srgbClr val="F4E8D0"/>
                </a:solidFill>
                <a:latin typeface="Noto Serif SC"/>
                <a:ea typeface="Noto Serif SC"/>
                <a:cs typeface="Noto Serif SC"/>
                <a:sym typeface="Noto Serif SC"/>
              </a:rPr>
              <a:t>是总得有一个人，</a:t>
            </a:r>
            <a:r>
              <a:rPr lang="en-US" sz="3800" b="1" i="0" u="none" strike="noStrike">
                <a:solidFill>
                  <a:srgbClr val="FF8C5A"/>
                </a:solidFill>
                <a:latin typeface="Noto Serif SC"/>
                <a:ea typeface="Noto Serif SC"/>
                <a:cs typeface="Noto Serif SC"/>
                <a:sym typeface="Noto Serif SC"/>
              </a:rPr>
              <a:t>牺牲游戏体验当 DM</a:t>
            </a:r>
            <a:r>
              <a:rPr lang="en-US" sz="3800" b="1" i="0" u="none" strike="noStrike">
                <a:solidFill>
                  <a:srgbClr val="F4E8D0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89000" y="4191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4E8D0"/>
                </a:solidFill>
                <a:latin typeface="Montserrat"/>
                <a:ea typeface="Montserrat"/>
                <a:cs typeface="Montserrat"/>
                <a:sym typeface="Montserrat"/>
              </a:rPr>
              <a:t>5 PLAYERS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889000" y="4572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玩得开心，有说有笑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3937000" y="4191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A8A090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5080000" y="4191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1 DM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5080000" y="4572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8C5A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发身份、念规则、控流程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8128000" y="4191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A8A090"/>
                </a:solidFill>
                <a:latin typeface="Montserrat"/>
                <a:ea typeface="Montserrat"/>
                <a:cs typeface="Montserrat"/>
                <a:sym typeface="Montserrat"/>
              </a:rPr>
              <a:t>=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9144000" y="4191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4E8D0"/>
                </a:solidFill>
                <a:latin typeface="Montserrat"/>
                <a:ea typeface="Montserrat"/>
                <a:cs typeface="Montserrat"/>
                <a:sym typeface="Montserrat"/>
              </a:rPr>
              <a:t>1 个受害者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9144000" y="4572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一小时都没在玩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26443">
            <a:off x="889024" y="5327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 txBox="1"/>
          <p:nvPr/>
        </p:nvSpPr>
        <p:spPr>
          <a:xfrm>
            <a:off x="889000" y="55245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狼人杀、阵营推理、派对游戏——所有事情都压在一个人身上，他从第一分钟起，就再也不是玩家。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2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8890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02 · THE SOLUTION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68745">
            <a:off x="889063" y="1263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8C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889000" y="19050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4E8D0"/>
                </a:solidFill>
                <a:latin typeface="Noto Serif SC"/>
                <a:ea typeface="Noto Serif SC"/>
                <a:cs typeface="Noto Serif SC"/>
                <a:sym typeface="Noto Serif SC"/>
              </a:rPr>
              <a:t>把主持席，交给 AI。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889000" y="28575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6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一桌一个 AI-DM，H5 网页，扫码即开桌，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6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自动主持、计分、控流程。</a:t>
            </a:r>
            <a:endParaRPr lang="en-US" sz="1600" b="0" i="0" u="none" strike="noStrike">
              <a:solidFill>
                <a:srgbClr val="A8A09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6" name="Connector 6"/>
          <p:cNvCxnSpPr/>
          <p:nvPr/>
        </p:nvCxnSpPr>
        <p:spPr>
          <a:xfrm rot="-7314">
            <a:off x="889007" y="4057650"/>
            <a:ext cx="596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4E8D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889000" y="4381500"/>
            <a:ext cx="279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FOR THE BAR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889000" y="47625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F4E8D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省下真人 DM 人力；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F4E8D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拉长卡座停留，带动酒水；</a:t>
            </a:r>
            <a:endParaRPr lang="en-US" sz="1400" b="0" i="0" u="none" strike="noStrike">
              <a:solidFill>
                <a:srgbClr val="F4E8D0">
                  <a:alpha val="85098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F4E8D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拿到匿名聚合运营报表。</a:t>
            </a:r>
            <a:endParaRPr lang="en-US" sz="1400" b="0" i="0" u="none" strike="noStrike">
              <a:solidFill>
                <a:srgbClr val="F4E8D0">
                  <a:alpha val="85098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4191000" y="4381500"/>
            <a:ext cx="279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FOR THE GUESTS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4191000" y="47625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F4E8D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扫码免费玩，不用求人带局；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F4E8D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手机就是身份卡、投票器；</a:t>
            </a:r>
            <a:endParaRPr lang="en-US" sz="1400" b="0" i="0" u="none" strike="noStrike">
              <a:solidFill>
                <a:srgbClr val="F4E8D0">
                  <a:alpha val="85098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F4E8D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每个人都是玩家。</a:t>
            </a:r>
            <a:endParaRPr lang="en-US" sz="1400" b="0" i="0" u="none" strike="noStrike">
              <a:solidFill>
                <a:srgbClr val="F4E8D0">
                  <a:alpha val="85098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 l="29161" r="29161"/>
          <a:stretch>
            <a:fillRect/>
          </a:stretch>
        </p:blipFill>
        <p:spPr>
          <a:xfrm>
            <a:off x="7112000" y="0"/>
            <a:ext cx="5080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2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8890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03 · TONIGHT'S DEMO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68745">
            <a:off x="889063" y="1263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8C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889000" y="1905000"/>
            <a:ext cx="1041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F4E8D0"/>
                </a:solidFill>
                <a:latin typeface="Noto Serif SC"/>
                <a:ea typeface="Noto Serif SC"/>
                <a:cs typeface="Noto Serif SC"/>
                <a:sym typeface="Noto Serif SC"/>
              </a:rPr>
              <a:t>《午夜列车》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914400" y="3048000"/>
            <a:ext cx="1041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MIDNIGHT EXPRESS · 4–6 PLAYERS · ~10 MIN · AI-DM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26443">
            <a:off x="889024" y="3803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889000" y="4064000"/>
            <a:ext cx="1041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2200" b="0" i="0" u="none" strike="noStrike">
                <a:solidFill>
                  <a:srgbClr val="F4E8D0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一列午夜行驶的列车发生神秘事件。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2200" b="0" i="0" u="none" strike="noStrike">
                <a:solidFill>
                  <a:srgbClr val="F4E8D0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每位乘客手里，都握着一块别人不知道的线索。</a:t>
            </a:r>
            <a:endParaRPr lang="en-US" sz="2200" b="0" i="0" u="none" strike="noStrike">
              <a:solidFill>
                <a:srgbClr val="F4E8D0">
                  <a:alpha val="90196"/>
                </a:srgbClr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2200" b="0" i="0" u="none" strike="noStrike">
                <a:solidFill>
                  <a:srgbClr val="F4E8D0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交换、质疑、投票 —— 在终点站之前，找出真相。</a:t>
            </a:r>
            <a:endParaRPr lang="en-US" sz="2200" b="0" i="0" u="none" strike="noStrike">
              <a:solidFill>
                <a:srgbClr val="F4E8D0">
                  <a:alpha val="90196"/>
                </a:srgbClr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889000" y="60960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今晚不做"兼容所有桌游"，只做这一个包 —— 让评委现场就能开一局。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2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8890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04 · SIX MOMENTS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68745">
            <a:off x="889063" y="1263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8C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889000" y="1651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4E8D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一局游戏，六个让评委记住的瞬间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192">
            <a:off x="889004" y="2787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4E8D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>
            <p:custDataLst>
              <p:tags r:id="rId1"/>
            </p:custDataLst>
          </p:nvPr>
        </p:nvSpPr>
        <p:spPr>
          <a:xfrm>
            <a:off x="889000" y="3048000"/>
            <a:ext cx="160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sp>
        <p:nvSpPr>
          <p:cNvPr id="7" name="AutoShape 7"/>
          <p:cNvSpPr txBox="1"/>
          <p:nvPr>
            <p:custDataLst>
              <p:tags r:id="rId2"/>
            </p:custDataLst>
          </p:nvPr>
        </p:nvSpPr>
        <p:spPr>
          <a:xfrm>
            <a:off x="889000" y="3403600"/>
            <a:ext cx="160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4E8D0"/>
                </a:solidFill>
                <a:latin typeface="Montserrat"/>
                <a:ea typeface="Montserrat"/>
                <a:cs typeface="Montserrat"/>
                <a:sym typeface="Montserrat"/>
              </a:rPr>
              <a:t>Lobby</a:t>
            </a:r>
            <a:endParaRPr lang="en-US" sz="1100"/>
          </a:p>
        </p:txBody>
      </p:sp>
      <p:sp>
        <p:nvSpPr>
          <p:cNvPr id="8" name="AutoShape 8"/>
          <p:cNvSpPr txBox="1"/>
          <p:nvPr>
            <p:custDataLst>
              <p:tags r:id="rId3"/>
            </p:custDataLst>
          </p:nvPr>
        </p:nvSpPr>
        <p:spPr>
          <a:xfrm>
            <a:off x="889000" y="3886200"/>
            <a:ext cx="160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扫码入座，头像逐个点亮，AI 主持从沉睡中唤醒。</a:t>
            </a:r>
            <a:endParaRPr lang="en-US" sz="1100"/>
          </a:p>
        </p:txBody>
      </p:sp>
      <p:sp>
        <p:nvSpPr>
          <p:cNvPr id="9" name="AutoShape 9"/>
          <p:cNvSpPr txBox="1"/>
          <p:nvPr>
            <p:custDataLst>
              <p:tags r:id="rId4"/>
            </p:custDataLst>
          </p:nvPr>
        </p:nvSpPr>
        <p:spPr>
          <a:xfrm>
            <a:off x="2590800" y="3048000"/>
            <a:ext cx="160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sp>
        <p:nvSpPr>
          <p:cNvPr id="10" name="AutoShape 10"/>
          <p:cNvSpPr txBox="1"/>
          <p:nvPr>
            <p:custDataLst>
              <p:tags r:id="rId5"/>
            </p:custDataLst>
          </p:nvPr>
        </p:nvSpPr>
        <p:spPr>
          <a:xfrm>
            <a:off x="2590800" y="3403600"/>
            <a:ext cx="160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4E8D0"/>
                </a:solidFill>
                <a:latin typeface="Montserrat"/>
                <a:ea typeface="Montserrat"/>
                <a:cs typeface="Montserrat"/>
                <a:sym typeface="Montserrat"/>
              </a:rPr>
              <a:t>Awakening</a:t>
            </a:r>
            <a:endParaRPr lang="en-US" sz="1100"/>
          </a:p>
        </p:txBody>
      </p:sp>
      <p:sp>
        <p:nvSpPr>
          <p:cNvPr id="11" name="AutoShape 11"/>
          <p:cNvSpPr txBox="1"/>
          <p:nvPr>
            <p:custDataLst>
              <p:tags r:id="rId6"/>
            </p:custDataLst>
          </p:nvPr>
        </p:nvSpPr>
        <p:spPr>
          <a:xfrm>
            <a:off x="2590800" y="3886200"/>
            <a:ext cx="160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旁白、音乐、字幕逐字出现，剧情开始。</a:t>
            </a:r>
            <a:endParaRPr lang="en-US" sz="1100"/>
          </a:p>
        </p:txBody>
      </p:sp>
      <p:sp>
        <p:nvSpPr>
          <p:cNvPr id="12" name="AutoShape 12"/>
          <p:cNvSpPr txBox="1"/>
          <p:nvPr>
            <p:custDataLst>
              <p:tags r:id="rId7"/>
            </p:custDataLst>
          </p:nvPr>
        </p:nvSpPr>
        <p:spPr>
          <a:xfrm>
            <a:off x="4292600" y="3048000"/>
            <a:ext cx="160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sp>
        <p:nvSpPr>
          <p:cNvPr id="13" name="AutoShape 13"/>
          <p:cNvSpPr txBox="1"/>
          <p:nvPr>
            <p:custDataLst>
              <p:tags r:id="rId8"/>
            </p:custDataLst>
          </p:nvPr>
        </p:nvSpPr>
        <p:spPr>
          <a:xfrm>
            <a:off x="4292600" y="3403600"/>
            <a:ext cx="160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4E8D0"/>
                </a:solidFill>
                <a:latin typeface="Montserrat"/>
                <a:ea typeface="Montserrat"/>
                <a:cs typeface="Montserrat"/>
                <a:sym typeface="Montserrat"/>
              </a:rPr>
              <a:t>Identity</a:t>
            </a:r>
            <a:endParaRPr lang="en-US" sz="1100"/>
          </a:p>
        </p:txBody>
      </p:sp>
      <p:sp>
        <p:nvSpPr>
          <p:cNvPr id="14" name="AutoShape 14"/>
          <p:cNvSpPr txBox="1"/>
          <p:nvPr>
            <p:custDataLst>
              <p:tags r:id="rId9"/>
            </p:custDataLst>
          </p:nvPr>
        </p:nvSpPr>
        <p:spPr>
          <a:xfrm>
            <a:off x="4292600" y="3886200"/>
            <a:ext cx="160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手机里翻开专属身份卡，别人看不见。</a:t>
            </a:r>
            <a:endParaRPr lang="en-US" sz="1100"/>
          </a:p>
        </p:txBody>
      </p:sp>
      <p:sp>
        <p:nvSpPr>
          <p:cNvPr id="15" name="AutoShape 15"/>
          <p:cNvSpPr txBox="1"/>
          <p:nvPr>
            <p:custDataLst>
              <p:tags r:id="rId10"/>
            </p:custDataLst>
          </p:nvPr>
        </p:nvSpPr>
        <p:spPr>
          <a:xfrm>
            <a:off x="5994400" y="3048000"/>
            <a:ext cx="160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lang="en-US" sz="1100"/>
          </a:p>
        </p:txBody>
      </p:sp>
      <p:sp>
        <p:nvSpPr>
          <p:cNvPr id="16" name="AutoShape 16"/>
          <p:cNvSpPr txBox="1"/>
          <p:nvPr>
            <p:custDataLst>
              <p:tags r:id="rId11"/>
            </p:custDataLst>
          </p:nvPr>
        </p:nvSpPr>
        <p:spPr>
          <a:xfrm>
            <a:off x="5994400" y="3403600"/>
            <a:ext cx="160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4E8D0"/>
                </a:solidFill>
                <a:latin typeface="Montserrat"/>
                <a:ea typeface="Montserrat"/>
                <a:cs typeface="Montserrat"/>
                <a:sym typeface="Montserrat"/>
              </a:rPr>
              <a:t>Investigate</a:t>
            </a:r>
            <a:endParaRPr lang="en-US" sz="1100"/>
          </a:p>
        </p:txBody>
      </p:sp>
      <p:sp>
        <p:nvSpPr>
          <p:cNvPr id="17" name="AutoShape 17"/>
          <p:cNvSpPr txBox="1"/>
          <p:nvPr>
            <p:custDataLst>
              <p:tags r:id="rId12"/>
            </p:custDataLst>
          </p:nvPr>
        </p:nvSpPr>
        <p:spPr>
          <a:xfrm>
            <a:off x="5994400" y="3886200"/>
            <a:ext cx="160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交换线索、互相质疑，AI 不剧透只推节奏。</a:t>
            </a:r>
            <a:endParaRPr lang="en-US" sz="1100"/>
          </a:p>
        </p:txBody>
      </p:sp>
      <p:sp>
        <p:nvSpPr>
          <p:cNvPr id="18" name="AutoShape 18"/>
          <p:cNvSpPr txBox="1"/>
          <p:nvPr>
            <p:custDataLst>
              <p:tags r:id="rId13"/>
            </p:custDataLst>
          </p:nvPr>
        </p:nvSpPr>
        <p:spPr>
          <a:xfrm>
            <a:off x="7696200" y="3048000"/>
            <a:ext cx="160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lang="en-US" sz="1100"/>
          </a:p>
        </p:txBody>
      </p:sp>
      <p:sp>
        <p:nvSpPr>
          <p:cNvPr id="19" name="AutoShape 19"/>
          <p:cNvSpPr txBox="1"/>
          <p:nvPr>
            <p:custDataLst>
              <p:tags r:id="rId14"/>
            </p:custDataLst>
          </p:nvPr>
        </p:nvSpPr>
        <p:spPr>
          <a:xfrm>
            <a:off x="7696200" y="3403600"/>
            <a:ext cx="160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4E8D0"/>
                </a:solidFill>
                <a:latin typeface="Montserrat"/>
                <a:ea typeface="Montserrat"/>
                <a:cs typeface="Montserrat"/>
                <a:sym typeface="Montserrat"/>
              </a:rPr>
              <a:t>Reveal</a:t>
            </a:r>
            <a:endParaRPr lang="en-US" sz="1100"/>
          </a:p>
        </p:txBody>
      </p:sp>
      <p:sp>
        <p:nvSpPr>
          <p:cNvPr id="20" name="AutoShape 20"/>
          <p:cNvSpPr txBox="1"/>
          <p:nvPr>
            <p:custDataLst>
              <p:tags r:id="rId15"/>
            </p:custDataLst>
          </p:nvPr>
        </p:nvSpPr>
        <p:spPr>
          <a:xfrm>
            <a:off x="7696200" y="3886200"/>
            <a:ext cx="160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投票揭晓真相，专属称号发到每个人手机。</a:t>
            </a:r>
            <a:endParaRPr lang="en-US" sz="1100"/>
          </a:p>
        </p:txBody>
      </p:sp>
      <p:sp>
        <p:nvSpPr>
          <p:cNvPr id="21" name="AutoShape 21"/>
          <p:cNvSpPr txBox="1"/>
          <p:nvPr>
            <p:custDataLst>
              <p:tags r:id="rId16"/>
            </p:custDataLst>
          </p:nvPr>
        </p:nvSpPr>
        <p:spPr>
          <a:xfrm>
            <a:off x="9398000" y="3048000"/>
            <a:ext cx="160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lang="en-US" sz="1100"/>
          </a:p>
        </p:txBody>
      </p:sp>
      <p:sp>
        <p:nvSpPr>
          <p:cNvPr id="22" name="AutoShape 22"/>
          <p:cNvSpPr txBox="1"/>
          <p:nvPr>
            <p:custDataLst>
              <p:tags r:id="rId17"/>
            </p:custDataLst>
          </p:nvPr>
        </p:nvSpPr>
        <p:spPr>
          <a:xfrm>
            <a:off x="9398000" y="3403600"/>
            <a:ext cx="160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4E8D0"/>
                </a:solidFill>
                <a:latin typeface="Montserrat"/>
                <a:ea typeface="Montserrat"/>
                <a:cs typeface="Montserrat"/>
                <a:sym typeface="Montserrat"/>
              </a:rPr>
              <a:t>Afterparty</a:t>
            </a:r>
            <a:endParaRPr lang="en-US" sz="1100"/>
          </a:p>
        </p:txBody>
      </p:sp>
      <p:sp>
        <p:nvSpPr>
          <p:cNvPr id="23" name="AutoShape 23"/>
          <p:cNvSpPr txBox="1"/>
          <p:nvPr>
            <p:custDataLst>
              <p:tags r:id="rId18"/>
            </p:custDataLst>
          </p:nvPr>
        </p:nvSpPr>
        <p:spPr>
          <a:xfrm>
            <a:off x="9398000" y="3886200"/>
            <a:ext cx="160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战报海报分享，输家请客，自然进入下一局。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2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7620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05 · THE REVENUE HOOK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68745">
            <a:off x="889063" y="1136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8C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889000" y="1397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4E8D0"/>
                </a:solidFill>
                <a:latin typeface="Noto Serif SC"/>
                <a:ea typeface="Noto Serif SC"/>
                <a:cs typeface="Noto Serif SC"/>
                <a:sym typeface="Noto Serif SC"/>
              </a:rPr>
              <a:t>游戏不只是留人 —— 游戏本身就是点单按钮。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457" r="5457"/>
          <a:stretch>
            <a:fillRect/>
          </a:stretch>
        </p:blipFill>
        <p:spPr>
          <a:xfrm>
            <a:off x="889000" y="2286000"/>
            <a:ext cx="4826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5457" r="5457"/>
          <a:stretch>
            <a:fillRect/>
          </a:stretch>
        </p:blipFill>
        <p:spPr>
          <a:xfrm>
            <a:off x="6477000" y="2286000"/>
            <a:ext cx="4826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 txBox="1"/>
          <p:nvPr/>
        </p:nvSpPr>
        <p:spPr>
          <a:xfrm>
            <a:off x="1016000" y="49022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8E6"/>
                </a:solidFill>
                <a:latin typeface="Noto Sans SC"/>
                <a:ea typeface="Noto Sans SC"/>
                <a:cs typeface="Noto Sans SC"/>
                <a:sym typeface="Noto Sans SC"/>
              </a:rPr>
              <a:t>回合输家 → 被起哄去吧台请全桌喝一杯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604000" y="49022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8E6"/>
                </a:solidFill>
                <a:latin typeface="Noto Sans SC"/>
                <a:ea typeface="Noto Sans SC"/>
                <a:cs typeface="Noto Sans SC"/>
                <a:sym typeface="Noto Sans SC"/>
              </a:rPr>
              <a:t>局间弹窗 → "ROUND LOST · 输家请客"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4192">
            <a:off x="889004" y="5708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4E8D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889000" y="59055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4E8D0"/>
                </a:solidFill>
                <a:latin typeface="Noto Sans SC"/>
                <a:ea typeface="Noto Sans SC"/>
                <a:cs typeface="Noto Sans SC"/>
                <a:sym typeface="Noto Sans SC"/>
              </a:rPr>
              <a:t>回合输家 → 自动点单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445000" y="59055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4E8D0"/>
                </a:solidFill>
                <a:latin typeface="Noto Sans SC"/>
                <a:ea typeface="Noto Sans SC"/>
                <a:cs typeface="Noto Sans SC"/>
                <a:sym typeface="Noto Sans SC"/>
              </a:rPr>
              <a:t>局间节奏 → 提示加一轮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001000" y="59055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4E8D0"/>
                </a:solidFill>
                <a:latin typeface="Noto Sans SC"/>
                <a:ea typeface="Noto Sans SC"/>
                <a:cs typeface="Noto Sans SC"/>
                <a:sym typeface="Noto Sans SC"/>
              </a:rPr>
              <a:t>战绩海报 → 自带酒吧 logo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2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8890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07 · BUSINESS MODEL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68745">
            <a:off x="889063" y="1263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8C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889000" y="1651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4E8D0"/>
                </a:solidFill>
                <a:latin typeface="Noto Serif SC"/>
                <a:ea typeface="Noto Serif SC"/>
                <a:cs typeface="Noto Serif SC"/>
                <a:sym typeface="Noto Serif SC"/>
              </a:rPr>
              <a:t>卖给清吧 / 小酒馆，客人扫码免费玩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889000" y="2667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A8A090"/>
                </a:solidFill>
                <a:latin typeface="Montserrat"/>
                <a:ea typeface="Montserrat"/>
                <a:cs typeface="Montserrat"/>
                <a:sym typeface="Montserrat"/>
              </a:rPr>
              <a:t>REVENUE MODEL</a:t>
            </a:r>
            <a:endParaRPr lang="en-US" sz="1100"/>
          </a:p>
        </p:txBody>
      </p:sp>
      <p:sp>
        <p:nvSpPr>
          <p:cNvPr id="6" name="AutoShape 6"/>
          <p:cNvSpPr txBox="1"/>
          <p:nvPr>
            <p:custDataLst>
              <p:tags r:id="rId1"/>
            </p:custDataLst>
          </p:nvPr>
        </p:nvSpPr>
        <p:spPr>
          <a:xfrm>
            <a:off x="889000" y="304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4E8D0"/>
                </a:solidFill>
                <a:latin typeface="Noto Sans SC"/>
                <a:ea typeface="Noto Sans SC"/>
                <a:cs typeface="Noto Sans SC"/>
                <a:sym typeface="Noto Sans SC"/>
              </a:rPr>
              <a:t>月度门店订阅</a:t>
            </a:r>
            <a:endParaRPr lang="en-US" sz="1100"/>
          </a:p>
        </p:txBody>
      </p:sp>
      <p:sp>
        <p:nvSpPr>
          <p:cNvPr id="7" name="AutoShape 7"/>
          <p:cNvSpPr txBox="1"/>
          <p:nvPr>
            <p:custDataLst>
              <p:tags r:id="rId2"/>
            </p:custDataLst>
          </p:nvPr>
        </p:nvSpPr>
        <p:spPr>
          <a:xfrm>
            <a:off x="889000" y="34544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主力收入，门店按席位解锁全部游戏</a:t>
            </a:r>
            <a:endParaRPr lang="en-US" sz="1100"/>
          </a:p>
        </p:txBody>
      </p:sp>
      <p:sp>
        <p:nvSpPr>
          <p:cNvPr id="8" name="AutoShape 8"/>
          <p:cNvSpPr txBox="1"/>
          <p:nvPr>
            <p:custDataLst>
              <p:tags r:id="rId3"/>
            </p:custDataLst>
          </p:nvPr>
        </p:nvSpPr>
        <p:spPr>
          <a:xfrm>
            <a:off x="889000" y="38608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4E8D0"/>
                </a:solidFill>
                <a:latin typeface="Noto Sans SC"/>
                <a:ea typeface="Noto Sans SC"/>
                <a:cs typeface="Noto Sans SC"/>
                <a:sym typeface="Noto Sans SC"/>
              </a:rPr>
              <a:t>按卡座席位 / 按场次计费</a:t>
            </a:r>
            <a:endParaRPr lang="en-US" sz="1100"/>
          </a:p>
        </p:txBody>
      </p:sp>
      <p:sp>
        <p:nvSpPr>
          <p:cNvPr id="9" name="AutoShape 9"/>
          <p:cNvSpPr txBox="1"/>
          <p:nvPr>
            <p:custDataLst>
              <p:tags r:id="rId4"/>
            </p:custDataLst>
          </p:nvPr>
        </p:nvSpPr>
        <p:spPr>
          <a:xfrm>
            <a:off x="889000" y="42672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备选收入，覆盖活动日与包场场景</a:t>
            </a:r>
            <a:endParaRPr lang="en-US" sz="1100"/>
          </a:p>
        </p:txBody>
      </p:sp>
      <p:sp>
        <p:nvSpPr>
          <p:cNvPr id="10" name="AutoShape 10"/>
          <p:cNvSpPr txBox="1"/>
          <p:nvPr>
            <p:custDataLst>
              <p:tags r:id="rId5"/>
            </p:custDataLst>
          </p:nvPr>
        </p:nvSpPr>
        <p:spPr>
          <a:xfrm>
            <a:off x="889000" y="4673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4E8D0"/>
                </a:solidFill>
                <a:latin typeface="Noto Sans SC"/>
                <a:ea typeface="Noto Sans SC"/>
                <a:cs typeface="Noto Sans SC"/>
                <a:sym typeface="Noto Sans SC"/>
              </a:rPr>
              <a:t>原创主题游戏包 / 运营咨询</a:t>
            </a:r>
            <a:endParaRPr lang="en-US" sz="1100"/>
          </a:p>
        </p:txBody>
      </p:sp>
      <p:sp>
        <p:nvSpPr>
          <p:cNvPr id="11" name="AutoShape 11"/>
          <p:cNvSpPr txBox="1"/>
          <p:nvPr>
            <p:custDataLst>
              <p:tags r:id="rId6"/>
            </p:custDataLst>
          </p:nvPr>
        </p:nvSpPr>
        <p:spPr>
          <a:xfrm>
            <a:off x="889000" y="50800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增值服务，绑定门店做差异化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7"/>
            </p:custDataLst>
          </p:nvPr>
        </p:nvCxnSpPr>
        <p:spPr>
          <a:xfrm rot="5385053">
            <a:off x="4635500" y="4121164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4E8D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6477000" y="2667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A8A090"/>
                </a:solidFill>
                <a:latin typeface="Montserrat"/>
                <a:ea typeface="Montserrat"/>
                <a:cs typeface="Montserrat"/>
                <a:sym typeface="Montserrat"/>
              </a:rPr>
              <a:t>WHAT THE BAR GETS</a:t>
            </a:r>
            <a:endParaRPr lang="en-US" sz="1100"/>
          </a:p>
        </p:txBody>
      </p:sp>
      <p:sp>
        <p:nvSpPr>
          <p:cNvPr id="14" name="AutoShape 14"/>
          <p:cNvSpPr txBox="1"/>
          <p:nvPr>
            <p:custDataLst>
              <p:tags r:id="rId8"/>
            </p:custDataLst>
          </p:nvPr>
        </p:nvSpPr>
        <p:spPr>
          <a:xfrm>
            <a:off x="6477000" y="304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4E8D0"/>
                </a:solidFill>
                <a:latin typeface="Noto Sans SC"/>
                <a:ea typeface="Noto Sans SC"/>
                <a:cs typeface="Noto Sans SC"/>
                <a:sym typeface="Noto Sans SC"/>
              </a:rPr>
              <a:t>省下真人 DM 人力</a:t>
            </a:r>
            <a:endParaRPr lang="en-US" sz="1100"/>
          </a:p>
        </p:txBody>
      </p:sp>
      <p:sp>
        <p:nvSpPr>
          <p:cNvPr id="15" name="AutoShape 15"/>
          <p:cNvSpPr txBox="1"/>
          <p:nvPr>
            <p:custDataLst>
              <p:tags r:id="rId9"/>
            </p:custDataLst>
          </p:nvPr>
        </p:nvSpPr>
        <p:spPr>
          <a:xfrm>
            <a:off x="6477000" y="34544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不再需要专门培训一个主持人</a:t>
            </a:r>
            <a:endParaRPr lang="en-US" sz="1100"/>
          </a:p>
        </p:txBody>
      </p:sp>
      <p:sp>
        <p:nvSpPr>
          <p:cNvPr id="16" name="AutoShape 16"/>
          <p:cNvSpPr txBox="1"/>
          <p:nvPr>
            <p:custDataLst>
              <p:tags r:id="rId10"/>
            </p:custDataLst>
          </p:nvPr>
        </p:nvSpPr>
        <p:spPr>
          <a:xfrm>
            <a:off x="6477000" y="38608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5A"/>
                </a:solidFill>
                <a:latin typeface="Noto Sans SC"/>
                <a:ea typeface="Noto Sans SC"/>
                <a:cs typeface="Noto Sans SC"/>
                <a:sym typeface="Noto Sans SC"/>
              </a:rPr>
              <a:t>拉长停留 → 酒水营收</a:t>
            </a:r>
            <a:endParaRPr lang="en-US" sz="1100"/>
          </a:p>
        </p:txBody>
      </p:sp>
      <p:sp>
        <p:nvSpPr>
          <p:cNvPr id="17" name="AutoShape 17"/>
          <p:cNvSpPr txBox="1"/>
          <p:nvPr>
            <p:custDataLst>
              <p:tags r:id="rId11"/>
            </p:custDataLst>
          </p:nvPr>
        </p:nvSpPr>
        <p:spPr>
          <a:xfrm>
            <a:off x="6477000" y="42672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一局 10 分钟，输家请客 + 局间点单串起第二、三轮酒</a:t>
            </a:r>
            <a:endParaRPr lang="en-US" sz="1100"/>
          </a:p>
        </p:txBody>
      </p:sp>
      <p:sp>
        <p:nvSpPr>
          <p:cNvPr id="18" name="AutoShape 18"/>
          <p:cNvSpPr txBox="1"/>
          <p:nvPr>
            <p:custDataLst>
              <p:tags r:id="rId12"/>
            </p:custDataLst>
          </p:nvPr>
        </p:nvSpPr>
        <p:spPr>
          <a:xfrm>
            <a:off x="6477000" y="4673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4E8D0"/>
                </a:solidFill>
                <a:latin typeface="Noto Sans SC"/>
                <a:ea typeface="Noto Sans SC"/>
                <a:cs typeface="Noto Sans SC"/>
                <a:sym typeface="Noto Sans SC"/>
              </a:rPr>
              <a:t>匿名聚合的运营报表</a:t>
            </a:r>
            <a:endParaRPr lang="en-US" sz="1100"/>
          </a:p>
        </p:txBody>
      </p:sp>
      <p:sp>
        <p:nvSpPr>
          <p:cNvPr id="19" name="AutoShape 19"/>
          <p:cNvSpPr txBox="1"/>
          <p:nvPr>
            <p:custDataLst>
              <p:tags r:id="rId13"/>
            </p:custDataLst>
          </p:nvPr>
        </p:nvSpPr>
        <p:spPr>
          <a:xfrm>
            <a:off x="6477000" y="50800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只看卡座维度，原始日志自动过期删除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2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群聊：10.11 牛客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9455" y="1188085"/>
            <a:ext cx="3023870" cy="4594860"/>
          </a:xfrm>
          <a:prstGeom prst="rect">
            <a:avLst/>
          </a:prstGeom>
        </p:spPr>
      </p:pic>
      <p:sp>
        <p:nvSpPr>
          <p:cNvPr id="2" name="AutoShape 2"/>
          <p:cNvSpPr txBox="1"/>
          <p:nvPr/>
        </p:nvSpPr>
        <p:spPr>
          <a:xfrm>
            <a:off x="889000" y="8890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8C5A"/>
                </a:solidFill>
                <a:latin typeface="Montserrat"/>
                <a:ea typeface="Montserrat"/>
                <a:cs typeface="Montserrat"/>
                <a:sym typeface="Montserrat"/>
              </a:rPr>
              <a:t>09 · THE MOMENT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68745">
            <a:off x="889063" y="12636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8C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889000" y="1905000"/>
            <a:ext cx="1041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3200" b="1" i="0" u="none" strike="noStrike">
                <a:solidFill>
                  <a:srgbClr val="F4E8D0"/>
                </a:solidFill>
                <a:latin typeface="Noto Serif SC"/>
                <a:ea typeface="Noto Serif SC"/>
                <a:cs typeface="Noto Serif SC"/>
                <a:sym typeface="Noto Serif SC"/>
              </a:rPr>
              <a:t>当所有人的手机亮起，身份卡翻开 ——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889000" y="2667000"/>
            <a:ext cx="1041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3200" b="1" i="0" u="none" strike="noStrike">
                <a:solidFill>
                  <a:srgbClr val="F4E8D0"/>
                </a:solidFill>
                <a:latin typeface="Noto Serif SC"/>
                <a:ea typeface="Noto Serif SC"/>
                <a:cs typeface="Noto Serif SC"/>
                <a:sym typeface="Noto Serif SC"/>
              </a:rPr>
              <a:t>这不是聊天机器人，这是一桌</a:t>
            </a:r>
            <a:r>
              <a:rPr lang="en-US" sz="3200" b="1" i="0" u="none" strike="noStrike">
                <a:solidFill>
                  <a:srgbClr val="FF8C5A"/>
                </a:solidFill>
                <a:latin typeface="Noto Serif SC"/>
                <a:ea typeface="Noto Serif SC"/>
                <a:cs typeface="Noto Serif SC"/>
                <a:sym typeface="Noto Serif SC"/>
              </a:rPr>
              <a:t>真的能开起来的桌游</a:t>
            </a:r>
            <a:r>
              <a:rPr lang="en-US" sz="3200" b="1" i="0" u="none" strike="noStrike">
                <a:solidFill>
                  <a:srgbClr val="F4E8D0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4191000"/>
            <a:ext cx="4318000" cy="1016000"/>
          </a:xfrm>
          <a:prstGeom prst="roundRect">
            <a:avLst>
              <a:gd name="adj" fmla="val 50000"/>
            </a:avLst>
          </a:prstGeom>
          <a:solidFill>
            <a:srgbClr val="FF8C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889000" y="44196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182B"/>
                </a:solidFill>
                <a:latin typeface="Noto Sans SC"/>
                <a:ea typeface="Noto Sans SC"/>
                <a:cs typeface="Noto Sans SC"/>
                <a:sym typeface="Noto Sans SC"/>
              </a:rPr>
              <a:t>欢迎评委现在扫码开桌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889000" y="47752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6182B">
                    <a:alpha val="70196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4 PLAYERS · 10 MIN · AI-DM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5842000" y="43180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4E8D0"/>
                </a:solidFill>
                <a:latin typeface="Noto Serif SC"/>
                <a:ea typeface="Noto Serif SC"/>
                <a:cs typeface="Noto Serif SC"/>
                <a:sym typeface="Noto Serif SC"/>
              </a:rPr>
              <a:t>NOX. </a:t>
            </a:r>
            <a:r>
              <a:rPr lang="en-US" sz="1600" b="1" i="0" u="none" strike="noStrike">
                <a:solidFill>
                  <a:srgbClr val="A8A090"/>
                </a:solidFill>
                <a:latin typeface="Noto Serif SC"/>
                <a:ea typeface="Noto Serif SC"/>
                <a:cs typeface="Noto Serif SC"/>
                <a:sym typeface="Noto Serif SC"/>
              </a:rPr>
              <a:t>The Empty Seat.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5842000" y="4889500"/>
            <a:ext cx="546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8A090"/>
                </a:solidFill>
                <a:latin typeface="Noto Sans SC"/>
                <a:ea typeface="Noto Sans SC"/>
                <a:cs typeface="Noto Sans SC"/>
                <a:sym typeface="Noto Sans SC"/>
              </a:rPr>
              <a:t>空出来的主持席，交给 AI。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4192">
            <a:off x="889004" y="5835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4E8D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889000" y="59944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8A090"/>
                </a:solidFill>
                <a:latin typeface="Montserrat"/>
                <a:ea typeface="Montserrat"/>
                <a:cs typeface="Montserrat"/>
                <a:sym typeface="Montserrat"/>
              </a:rPr>
              <a:t>THANK YOU · HACKATHON DEMO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620000" y="59944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8C5A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感谢评审 · 现在就开一局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6,&quot;left&quot;:70,&quot;top&quot;:240,&quot;width&quot;:796}"/>
</p:tagLst>
</file>

<file path=ppt/tags/tag2.xml><?xml version="1.0" encoding="utf-8"?>
<p:tagLst xmlns:p="http://schemas.openxmlformats.org/presentationml/2006/main">
  <p:tag name="KSO_WM_DIAGRAM_VIRTUALLY_FRAME" val="{&quot;height&quot;:206,&quot;left&quot;:70,&quot;top&quot;:240,&quot;width&quot;:796}"/>
</p:tagLst>
</file>

<file path=ppt/tags/tag3.xml><?xml version="1.0" encoding="utf-8"?>
<p:tagLst xmlns:p="http://schemas.openxmlformats.org/presentationml/2006/main">
  <p:tag name="KSO_WM_DIAGRAM_VIRTUALLY_FRAME" val="{&quot;height&quot;:206,&quot;left&quot;:70,&quot;top&quot;:240,&quot;width&quot;:796}"/>
</p:tagLst>
</file>

<file path=ppt/tags/tag4.xml><?xml version="1.0" encoding="utf-8"?>
<p:tagLst xmlns:p="http://schemas.openxmlformats.org/presentationml/2006/main">
  <p:tag name="KSO_WM_DIAGRAM_VIRTUALLY_FRAME" val="{&quot;height&quot;:206,&quot;left&quot;:70,&quot;top&quot;:240,&quot;width&quot;:796}"/>
</p:tagLst>
</file>

<file path=ppt/tags/tag5.xml><?xml version="1.0" encoding="utf-8"?>
<p:tagLst xmlns:p="http://schemas.openxmlformats.org/presentationml/2006/main">
  <p:tag name="KSO_WM_DIAGRAM_VIRTUALLY_FRAME" val="{&quot;height&quot;:206,&quot;left&quot;:70,&quot;top&quot;:240,&quot;width&quot;:796}"/>
</p:tagLst>
</file>

<file path=ppt/tags/tag6.xml><?xml version="1.0" encoding="utf-8"?>
<p:tagLst xmlns:p="http://schemas.openxmlformats.org/presentationml/2006/main">
  <p:tag name="KSO_WM_DIAGRAM_VIRTUALLY_FRAME" val="{&quot;height&quot;:206,&quot;left&quot;:70,&quot;top&quot;:240,&quot;width&quot;:796}"/>
</p:tagLst>
</file>

<file path=ppt/tags/tag7.xml><?xml version="1.0" encoding="utf-8"?>
<p:tagLst xmlns:p="http://schemas.openxmlformats.org/presentationml/2006/main">
  <p:tag name="KSO_WM_DIAGRAM_VIRTUALLY_FRAME" val="{&quot;height&quot;:206,&quot;left&quot;:70,&quot;top&quot;:240,&quot;width&quot;:796}"/>
</p:tagLst>
</file>

<file path=ppt/tags/tag8.xml><?xml version="1.0" encoding="utf-8"?>
<p:tagLst xmlns:p="http://schemas.openxmlformats.org/presentationml/2006/main">
  <p:tag name="KSO_WM_DIAGRAM_VIRTUALLY_FRAME" val="{&quot;height&quot;:206,&quot;left&quot;:70,&quot;top&quot;:240,&quot;width&quot;:796}"/>
</p:tagLst>
</file>

<file path=ppt/tags/tag9.xml><?xml version="1.0" encoding="utf-8"?>
<p:tagLst xmlns:p="http://schemas.openxmlformats.org/presentationml/2006/main">
  <p:tag name="KSO_WM_DIAGRAM_VIRTUALLY_FRAME" val="{&quot;height&quot;:206,&quot;left&quot;:70,&quot;top&quot;:240,&quot;width&quot;:796}"/>
</p:tagLst>
</file>

<file path=ppt/tags/tag10.xml><?xml version="1.0" encoding="utf-8"?>
<p:tagLst xmlns:p="http://schemas.openxmlformats.org/presentationml/2006/main">
  <p:tag name="KSO_WM_DIAGRAM_VIRTUALLY_FRAME" val="{&quot;height&quot;:206,&quot;left&quot;:70,&quot;top&quot;:240,&quot;width&quot;:796}"/>
</p:tagLst>
</file>

<file path=ppt/tags/tag11.xml><?xml version="1.0" encoding="utf-8"?>
<p:tagLst xmlns:p="http://schemas.openxmlformats.org/presentationml/2006/main">
  <p:tag name="KSO_WM_DIAGRAM_VIRTUALLY_FRAME" val="{&quot;height&quot;:206,&quot;left&quot;:70,&quot;top&quot;:240,&quot;width&quot;:796}"/>
</p:tagLst>
</file>

<file path=ppt/tags/tag12.xml><?xml version="1.0" encoding="utf-8"?>
<p:tagLst xmlns:p="http://schemas.openxmlformats.org/presentationml/2006/main">
  <p:tag name="KSO_WM_DIAGRAM_VIRTUALLY_FRAME" val="{&quot;height&quot;:206,&quot;left&quot;:70,&quot;top&quot;:240,&quot;width&quot;:796}"/>
</p:tagLst>
</file>

<file path=ppt/tags/tag13.xml><?xml version="1.0" encoding="utf-8"?>
<p:tagLst xmlns:p="http://schemas.openxmlformats.org/presentationml/2006/main">
  <p:tag name="KSO_WM_DIAGRAM_VIRTUALLY_FRAME" val="{&quot;height&quot;:206,&quot;left&quot;:70,&quot;top&quot;:240,&quot;width&quot;:796}"/>
</p:tagLst>
</file>

<file path=ppt/tags/tag14.xml><?xml version="1.0" encoding="utf-8"?>
<p:tagLst xmlns:p="http://schemas.openxmlformats.org/presentationml/2006/main">
  <p:tag name="KSO_WM_DIAGRAM_VIRTUALLY_FRAME" val="{&quot;height&quot;:206,&quot;left&quot;:70,&quot;top&quot;:240,&quot;width&quot;:796}"/>
</p:tagLst>
</file>

<file path=ppt/tags/tag15.xml><?xml version="1.0" encoding="utf-8"?>
<p:tagLst xmlns:p="http://schemas.openxmlformats.org/presentationml/2006/main">
  <p:tag name="KSO_WM_DIAGRAM_VIRTUALLY_FRAME" val="{&quot;height&quot;:206,&quot;left&quot;:70,&quot;top&quot;:240,&quot;width&quot;:796}"/>
</p:tagLst>
</file>

<file path=ppt/tags/tag16.xml><?xml version="1.0" encoding="utf-8"?>
<p:tagLst xmlns:p="http://schemas.openxmlformats.org/presentationml/2006/main">
  <p:tag name="KSO_WM_DIAGRAM_VIRTUALLY_FRAME" val="{&quot;height&quot;:206,&quot;left&quot;:70,&quot;top&quot;:240,&quot;width&quot;:796}"/>
</p:tagLst>
</file>

<file path=ppt/tags/tag17.xml><?xml version="1.0" encoding="utf-8"?>
<p:tagLst xmlns:p="http://schemas.openxmlformats.org/presentationml/2006/main">
  <p:tag name="KSO_WM_DIAGRAM_VIRTUALLY_FRAME" val="{&quot;height&quot;:206,&quot;left&quot;:70,&quot;top&quot;:240,&quot;width&quot;:796}"/>
</p:tagLst>
</file>

<file path=ppt/tags/tag18.xml><?xml version="1.0" encoding="utf-8"?>
<p:tagLst xmlns:p="http://schemas.openxmlformats.org/presentationml/2006/main">
  <p:tag name="KSO_WM_DIAGRAM_VIRTUALLY_FRAME" val="{&quot;height&quot;:206,&quot;left&quot;:70,&quot;top&quot;:240,&quot;width&quot;:796}"/>
</p:tagLst>
</file>

<file path=ppt/tags/tag19.xml><?xml version="1.0" encoding="utf-8"?>
<p:tagLst xmlns:p="http://schemas.openxmlformats.org/presentationml/2006/main">
  <p:tag name="KSO_WM_DIAGRAM_VIRTUALLY_FRAME" val="{&quot;height&quot;:230.00217390276856,&quot;left&quot;:70,&quot;top&quot;:210.00001541082048,&quot;width&quot;:820}"/>
</p:tagLst>
</file>

<file path=ppt/tags/tag20.xml><?xml version="1.0" encoding="utf-8"?>
<p:tagLst xmlns:p="http://schemas.openxmlformats.org/presentationml/2006/main">
  <p:tag name="KSO_WM_DIAGRAM_VIRTUALLY_FRAME" val="{&quot;height&quot;:230.00217390276856,&quot;left&quot;:70,&quot;top&quot;:210.00001541082048,&quot;width&quot;:820}"/>
</p:tagLst>
</file>

<file path=ppt/tags/tag21.xml><?xml version="1.0" encoding="utf-8"?>
<p:tagLst xmlns:p="http://schemas.openxmlformats.org/presentationml/2006/main">
  <p:tag name="KSO_WM_DIAGRAM_VIRTUALLY_FRAME" val="{&quot;height&quot;:230.00217390276856,&quot;left&quot;:70,&quot;top&quot;:210.00001541082048,&quot;width&quot;:820}"/>
</p:tagLst>
</file>

<file path=ppt/tags/tag22.xml><?xml version="1.0" encoding="utf-8"?>
<p:tagLst xmlns:p="http://schemas.openxmlformats.org/presentationml/2006/main">
  <p:tag name="KSO_WM_DIAGRAM_VIRTUALLY_FRAME" val="{&quot;height&quot;:230.00217390276856,&quot;left&quot;:70,&quot;top&quot;:210.00001541082048,&quot;width&quot;:820}"/>
</p:tagLst>
</file>

<file path=ppt/tags/tag23.xml><?xml version="1.0" encoding="utf-8"?>
<p:tagLst xmlns:p="http://schemas.openxmlformats.org/presentationml/2006/main">
  <p:tag name="KSO_WM_DIAGRAM_VIRTUALLY_FRAME" val="{&quot;height&quot;:230.00217390276856,&quot;left&quot;:70,&quot;top&quot;:210.00001541082048,&quot;width&quot;:820}"/>
</p:tagLst>
</file>

<file path=ppt/tags/tag24.xml><?xml version="1.0" encoding="utf-8"?>
<p:tagLst xmlns:p="http://schemas.openxmlformats.org/presentationml/2006/main">
  <p:tag name="KSO_WM_DIAGRAM_VIRTUALLY_FRAME" val="{&quot;height&quot;:230.00217390276856,&quot;left&quot;:70,&quot;top&quot;:210.00001541082048,&quot;width&quot;:820}"/>
</p:tagLst>
</file>

<file path=ppt/tags/tag25.xml><?xml version="1.0" encoding="utf-8"?>
<p:tagLst xmlns:p="http://schemas.openxmlformats.org/presentationml/2006/main">
  <p:tag name="KSO_WM_DIAGRAM_VIRTUALLY_FRAME" val="{&quot;height&quot;:230.00217390276856,&quot;left&quot;:70,&quot;top&quot;:210.00001541082048,&quot;width&quot;:820}"/>
</p:tagLst>
</file>

<file path=ppt/tags/tag26.xml><?xml version="1.0" encoding="utf-8"?>
<p:tagLst xmlns:p="http://schemas.openxmlformats.org/presentationml/2006/main">
  <p:tag name="KSO_WM_DIAGRAM_VIRTUALLY_FRAME" val="{&quot;height&quot;:230.00217390276856,&quot;left&quot;:70,&quot;top&quot;:210.00001541082048,&quot;width&quot;:820}"/>
</p:tagLst>
</file>

<file path=ppt/tags/tag27.xml><?xml version="1.0" encoding="utf-8"?>
<p:tagLst xmlns:p="http://schemas.openxmlformats.org/presentationml/2006/main">
  <p:tag name="KSO_WM_DIAGRAM_VIRTUALLY_FRAME" val="{&quot;height&quot;:230.00217390276856,&quot;left&quot;:70,&quot;top&quot;:210.00001541082048,&quot;width&quot;:820}"/>
</p:tagLst>
</file>

<file path=ppt/tags/tag28.xml><?xml version="1.0" encoding="utf-8"?>
<p:tagLst xmlns:p="http://schemas.openxmlformats.org/presentationml/2006/main">
  <p:tag name="KSO_WM_DIAGRAM_VIRTUALLY_FRAME" val="{&quot;height&quot;:230.00217390276856,&quot;left&quot;:70,&quot;top&quot;:210.00001541082048,&quot;width&quot;:820}"/>
</p:tagLst>
</file>

<file path=ppt/tags/tag29.xml><?xml version="1.0" encoding="utf-8"?>
<p:tagLst xmlns:p="http://schemas.openxmlformats.org/presentationml/2006/main">
  <p:tag name="KSO_WM_DIAGRAM_VIRTUALLY_FRAME" val="{&quot;height&quot;:230.00217390276856,&quot;left&quot;:70,&quot;top&quot;:210.00001541082048,&quot;width&quot;:820}"/>
</p:tagLst>
</file>

<file path=ppt/tags/tag30.xml><?xml version="1.0" encoding="utf-8"?>
<p:tagLst xmlns:p="http://schemas.openxmlformats.org/presentationml/2006/main">
  <p:tag name="KSO_WM_DIAGRAM_VIRTUALLY_FRAME" val="{&quot;height&quot;:230.00217390276856,&quot;left&quot;:70,&quot;top&quot;:210.00001541082048,&quot;width&quot;:820}"/>
</p:tagLst>
</file>

<file path=ppt/tags/tag31.xml><?xml version="1.0" encoding="utf-8"?>
<p:tagLst xmlns:p="http://schemas.openxmlformats.org/presentationml/2006/main">
  <p:tag name="KSO_WM_DIAGRAM_VIRTUALLY_FRAME" val="{&quot;height&quot;:230.00217390276856,&quot;left&quot;:70,&quot;top&quot;:210.00001541082048,&quot;width&quot;:82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1290</Words>
  <Application>WPS 文字</Application>
  <PresentationFormat/>
  <Paragraphs>170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8" baseType="lpstr">
      <vt:lpstr>Arial</vt:lpstr>
      <vt:lpstr>宋体</vt:lpstr>
      <vt:lpstr>Wingdings</vt:lpstr>
      <vt:lpstr>Arial</vt:lpstr>
      <vt:lpstr>Montserrat</vt:lpstr>
      <vt:lpstr>Thonburi</vt:lpstr>
      <vt:lpstr>Noto Serif SC</vt:lpstr>
      <vt:lpstr>Noto Sans SC</vt:lpstr>
      <vt:lpstr>宋体</vt:lpstr>
      <vt:lpstr>汉仪书宋二KW</vt:lpstr>
      <vt:lpstr>微软雅黑</vt:lpstr>
      <vt:lpstr>方正雅意黑 GB18030L2</vt:lpstr>
      <vt:lpstr>Arial Unicode MS</vt:lpstr>
      <vt:lpstr>Montserrat</vt:lpstr>
      <vt:lpstr>Noto Sans SC</vt:lpstr>
      <vt:lpstr>Noto Serif SC</vt:lpstr>
      <vt:lpstr>苹方-简</vt:lpstr>
      <vt:lpstr>儷宋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ia</cp:lastModifiedBy>
  <cp:revision>4</cp:revision>
  <dcterms:created xsi:type="dcterms:W3CDTF">2026-10-11T10:05:59Z</dcterms:created>
  <dcterms:modified xsi:type="dcterms:W3CDTF">2026-10-11T10:05:59Z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0833BB46EF82C41D1B59CB6A54D00BEA_42</vt:lpwstr>
  </property>
  <property fmtid="{D5CDD505-2E9C-101B-9397-08002B2CF9AE}" pid="3" name="KSOProductBuildVer">
    <vt:lpwstr>2052-12.1.28496.28496</vt:lpwstr>
  </property>
</Properties>
</file>